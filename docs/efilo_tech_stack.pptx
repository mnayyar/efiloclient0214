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011680"/>
            <a:ext cx="1097280" cy="54864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DM Sans"/>
              </a:defRPr>
            </a:pPr>
            <a:r>
              <a:t>efilo.ai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67F17"/>
                </a:solidFill>
                <a:latin typeface="DM Sans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DM Sans"/>
              </a:defRPr>
            </a:pPr>
            <a:r>
              <a:t>Your Projects. Finally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DM Sans"/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Python backend + React SPA — no Node.js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00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316382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DM San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917"/>
                </a:solidFill>
                <a:latin typeface="DM Sans"/>
              </a:defRPr>
            </a:pPr>
            <a:r>
              <a:t>React 19 + Vite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react-router v7 (SPA routing)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TanStack React Query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Zustand v5 (auth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Tailwind CSS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Radix UI primitives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Recharts (charts)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Sonner (toasts)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19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react-markdown + remark-gfm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Lucide icons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TypeScript 5.9 strict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67F17"/>
                </a:solidFill>
                <a:latin typeface="DM Sans"/>
              </a:defRPr>
            </a:pPr>
            <a:r>
              <a:t>/api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566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7534E"/>
                </a:solidFill>
                <a:latin typeface="DM Sans"/>
              </a:defRPr>
            </a:pPr>
            <a:r>
              <a:t>proxy 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146304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64608" y="1481328"/>
            <a:ext cx="3438144" cy="54864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8A5F"/>
                </a:solidFill>
                <a:latin typeface="DM Sans"/>
              </a:defRPr>
            </a:pPr>
            <a: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917"/>
                </a:solidFill>
                <a:latin typeface="DM Sans"/>
              </a:defRPr>
            </a:pPr>
            <a:r>
              <a:t>FastAPI + Python 3.12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SQLAlchemy 2 (async + sync)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6517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Alembic (migrations)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Celery + Redis (jobs)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2918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PyJWT HS256 (auth)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611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Anthropic SDK (Claude AI)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OpenAI SDK (embeddings)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Docling (doc parsing)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5719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Chonkie (semantic chunking)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PyMuPDF (PDF fallback)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2120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boto3 (Cloudflare R2)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smtplib (email via SMTP)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1463040"/>
            <a:ext cx="2743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05088" y="1481328"/>
            <a:ext cx="270662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DM Sans"/>
              </a:defRPr>
            </a:pPr>
            <a:r>
              <a:t>DATA &amp; INFRA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C1917"/>
                </a:solidFill>
                <a:latin typeface="DM Sans"/>
              </a:defRPr>
            </a:pPr>
            <a:r>
              <a:t>Neon Postgres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pgvector (1536-dim)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265175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Full-Text Search (tsvector)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GIN indexes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32918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Cloudflare R2 (files)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36118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Redis (task queue)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931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Redis (result backend)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7534E"/>
                </a:solidFill>
                <a:latin typeface="DM Sans"/>
              </a:defRPr>
            </a:pPr>
            <a:r>
              <a:t>  Redis (crash tracking)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Backend: Python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FastAPI + SQLAlchemy + Celery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3346704" cy="45720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8A5F"/>
                </a:solidFill>
                <a:latin typeface="DM Sans"/>
              </a:defRPr>
            </a:pPr>
            <a:r>
              <a:t>FRAMEWORK &amp;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FastAPI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&gt;=0.115 — async ASGI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Uvicorn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&gt;=0.34 — ASGI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Python</a:t>
            </a:r>
            <a:r>
              <a:rPr sz="1000" b="0">
                <a:solidFill>
                  <a:srgbClr val="57534E"/>
                </a:solidFill>
                <a:latin typeface="DM Sans"/>
              </a:rPr>
              <a:t>  3.12+ — strict mypy + ruff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Pydantic Settings</a:t>
            </a:r>
            <a:r>
              <a:rPr sz="1000" b="0">
                <a:solidFill>
                  <a:srgbClr val="57534E"/>
                </a:solidFill>
                <a:latin typeface="DM Sans"/>
              </a:rPr>
              <a:t>  env var config (.env.local)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3355848"/>
            <a:ext cx="33467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47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DM San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76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SQLAlchemy 2</a:t>
            </a:r>
            <a:r>
              <a:rPr sz="1000" b="0">
                <a:solidFill>
                  <a:srgbClr val="57534E"/>
                </a:solidFill>
                <a:latin typeface="DM Sans"/>
              </a:rPr>
              <a:t>  async (asyncpg) + sync (psycopg2)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Alembic</a:t>
            </a:r>
            <a:r>
              <a:rPr sz="1000" b="0">
                <a:solidFill>
                  <a:srgbClr val="57534E"/>
                </a:solidFill>
                <a:latin typeface="DM Sans"/>
              </a:rPr>
              <a:t>  schema migrations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pgvector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&gt;=0.3.6 — vector similarity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Postgres FTS</a:t>
            </a:r>
            <a:r>
              <a:rPr sz="1000" b="0">
                <a:solidFill>
                  <a:srgbClr val="57534E"/>
                </a:solidFill>
                <a:latin typeface="DM Sans"/>
              </a:rPr>
              <a:t>  tsvector + GIN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Neon Postgres</a:t>
            </a:r>
            <a:r>
              <a:rPr sz="1000" b="0">
                <a:solidFill>
                  <a:srgbClr val="57534E"/>
                </a:solidFill>
                <a:latin typeface="DM Sans"/>
              </a:rPr>
              <a:t>  dedicated per customer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37160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1389888"/>
            <a:ext cx="33467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DM Sans"/>
              </a:defRPr>
            </a:pPr>
            <a:r>
              <a:t>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PyJWT</a:t>
            </a:r>
            <a:r>
              <a:rPr sz="1000" b="0">
                <a:solidFill>
                  <a:srgbClr val="57534E"/>
                </a:solidFill>
                <a:latin typeface="DM Sans"/>
              </a:rPr>
              <a:t>  HS256, httpOnly cookie (7-day expiry)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130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WorkOS SDK</a:t>
            </a:r>
            <a:r>
              <a:rPr sz="1000" b="0">
                <a:solidFill>
                  <a:srgbClr val="57534E"/>
                </a:solidFill>
                <a:latin typeface="DM Sans"/>
              </a:rPr>
              <a:t>  SSO (SAML/OIDC) + SCIM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bcrypt</a:t>
            </a:r>
            <a:r>
              <a:rPr sz="1000" b="0">
                <a:solidFill>
                  <a:srgbClr val="57534E"/>
                </a:solidFill>
                <a:latin typeface="DM Sans"/>
              </a:rPr>
              <a:t>  email/password hashing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70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Dev bypass</a:t>
            </a:r>
            <a:r>
              <a:rPr sz="1000" b="0">
                <a:solidFill>
                  <a:srgbClr val="57534E"/>
                </a:solidFill>
                <a:latin typeface="DM Sans"/>
              </a:rPr>
              <a:t>  auto-login in development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33756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7408" y="3355848"/>
            <a:ext cx="3346704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447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DM Sans"/>
              </a:defRPr>
            </a:pPr>
            <a:r>
              <a:t>BACKGROUND JOBS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776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Celery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&gt;=5.4 — prefork workers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96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Redis</a:t>
            </a:r>
            <a:r>
              <a:rPr sz="1000" b="0">
                <a:solidFill>
                  <a:srgbClr val="57534E"/>
                </a:solidFill>
                <a:latin typeface="DM Sans"/>
              </a:rPr>
              <a:t>  broker + result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Beat scheduler</a:t>
            </a:r>
            <a:r>
              <a:rPr sz="1000" b="0">
                <a:solidFill>
                  <a:srgbClr val="57534E"/>
                </a:solidFill>
                <a:latin typeface="DM Sans"/>
              </a:rPr>
              <a:t>  hourly/daily/weekly crons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365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Tasks</a:t>
            </a:r>
            <a:r>
              <a:rPr sz="1000" b="0">
                <a:solidFill>
                  <a:srgbClr val="57534E"/>
                </a:solidFill>
                <a:latin typeface="DM Sans"/>
              </a:rPr>
              <a:t>  ingestion, RFI aging, compliance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371600"/>
            <a:ext cx="3383280" cy="1463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8" y="1389888"/>
            <a:ext cx="3346704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DM Sans"/>
              </a:defRPr>
            </a:pPr>
            <a:r>
              <a:t>FILE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Cloudflare R2</a:t>
            </a:r>
            <a:r>
              <a:rPr sz="1000" b="0">
                <a:solidFill>
                  <a:srgbClr val="57534E"/>
                </a:solidFill>
                <a:latin typeface="DM Sans"/>
              </a:rPr>
              <a:t>  S3-compatible, zero egress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130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boto3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&gt;=1.35 — presigned URLs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Key format</a:t>
            </a:r>
            <a:r>
              <a:rPr sz="1000" b="0">
                <a:solidFill>
                  <a:srgbClr val="57534E"/>
                </a:solidFill>
                <a:latin typeface="DM Sans"/>
              </a:rPr>
              <a:t>  {projectId}/{docId}/{filename}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017519"/>
            <a:ext cx="3383280" cy="1463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5008" y="3035807"/>
            <a:ext cx="3346704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12724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11D48"/>
                </a:solidFill>
                <a:latin typeface="DM Sans"/>
              </a:defRPr>
            </a:pPr>
            <a:r>
              <a:t>EMAIL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smtplib</a:t>
            </a:r>
            <a:r>
              <a:rPr sz="1000" b="0">
                <a:solidFill>
                  <a:srgbClr val="57534E"/>
                </a:solidFill>
                <a:latin typeface="DM Sans"/>
              </a:rPr>
              <a:t>  Python stdlib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77647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Gmail SMTP</a:t>
            </a:r>
            <a:r>
              <a:rPr sz="1000" b="0">
                <a:solidFill>
                  <a:srgbClr val="57534E"/>
                </a:solidFill>
                <a:latin typeface="DM Sans"/>
              </a:rPr>
              <a:t>  TLS on port 587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09651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MIME</a:t>
            </a:r>
            <a:r>
              <a:rPr sz="1000" b="0">
                <a:solidFill>
                  <a:srgbClr val="57534E"/>
                </a:solidFill>
                <a:latin typeface="DM Sans"/>
              </a:rPr>
              <a:t>  HTML + plain text fallback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663438"/>
            <a:ext cx="3383280" cy="1463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65008" y="4681726"/>
            <a:ext cx="3346704" cy="45720"/>
          </a:xfrm>
          <a:prstGeom prst="rect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477316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7534E"/>
                </a:solidFill>
                <a:latin typeface="DM Sans"/>
              </a:defRPr>
            </a:pPr>
            <a:r>
              <a:t>UTILITIES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10235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httpx</a:t>
            </a:r>
            <a:r>
              <a:rPr sz="1000" b="0">
                <a:solidFill>
                  <a:srgbClr val="57534E"/>
                </a:solidFill>
                <a:latin typeface="DM Sans"/>
              </a:rPr>
              <a:t>  async HTTP client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42239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python-cuid2</a:t>
            </a:r>
            <a:r>
              <a:rPr sz="1000" b="0">
                <a:solidFill>
                  <a:srgbClr val="57534E"/>
                </a:solidFill>
                <a:latin typeface="DM Sans"/>
              </a:rPr>
              <a:t>  ID generation (Prisma-compat)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74243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python-dotenv</a:t>
            </a:r>
            <a:r>
              <a:rPr sz="1000" b="0">
                <a:solidFill>
                  <a:srgbClr val="57534E"/>
                </a:solidFill>
                <a:latin typeface="DM Sans"/>
              </a:rPr>
              <a:t>  env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AI &amp; Document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Claude for reasoning + Vision OCR | OpenAI for embeddings | Docling + Chonkie for parsing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499262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DM Sans"/>
              </a:defRPr>
            </a:pPr>
            <a:r>
              <a:t>AI SERVICES — ANTHROPIC (CLAUDE)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Claude Haiku 4.5</a:t>
            </a:r>
            <a:r>
              <a:rPr sz="1000" b="0">
                <a:solidFill>
                  <a:srgbClr val="57534E"/>
                </a:solidFill>
                <a:latin typeface="DM Sans"/>
              </a:rPr>
              <a:t>  claude-haiku-4-5-20251001 — fast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Claude Sonnet 4.5</a:t>
            </a:r>
            <a:r>
              <a:rPr sz="1000" b="0">
                <a:solidFill>
                  <a:srgbClr val="57534E"/>
                </a:solidFill>
                <a:latin typeface="DM Sans"/>
              </a:rPr>
              <a:t>  claude-sonnet-4-5-20250929 — analysis, drafting, search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Claude Opus 4.5</a:t>
            </a:r>
            <a:r>
              <a:rPr sz="1000" b="0">
                <a:solidFill>
                  <a:srgbClr val="57534E"/>
                </a:solidFill>
                <a:latin typeface="DM Sans"/>
              </a:rPr>
              <a:t>  claude-opus-4-5-20250620 — contract clause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Claude Vision</a:t>
            </a:r>
            <a:r>
              <a:rPr sz="1000" b="0">
                <a:solidFill>
                  <a:srgbClr val="57534E"/>
                </a:solidFill>
                <a:latin typeface="DM Sans"/>
              </a:rPr>
              <a:t>  Sonnet — scanned PDF / handwritten OCR (base64 PNG)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Web Search</a:t>
            </a:r>
            <a:r>
              <a:rPr sz="1000" b="0">
                <a:solidFill>
                  <a:srgbClr val="57534E"/>
                </a:solidFill>
                <a:latin typeface="DM Sans"/>
              </a:rPr>
              <a:t>  web_search_20250305 beta tool — world knowledge chat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29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3675888"/>
            <a:ext cx="499262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DM Sans"/>
              </a:defRPr>
            </a:pPr>
            <a:r>
              <a:t>AI SERVICES — 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text-embedding-3-large</a:t>
            </a:r>
            <a:r>
              <a:rPr sz="1000" b="0">
                <a:solidFill>
                  <a:srgbClr val="57534E"/>
                </a:solidFill>
                <a:latin typeface="DM Sans"/>
              </a:rPr>
              <a:t>  1536 dimensions, batch size 2048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Purpose</a:t>
            </a:r>
            <a:r>
              <a:rPr sz="1000" b="0">
                <a:solidFill>
                  <a:srgbClr val="57534E"/>
                </a:solidFill>
                <a:latin typeface="DM Sans"/>
              </a:rPr>
              <a:t>  document chunk + query embeddings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212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1389888"/>
            <a:ext cx="5175504" cy="45720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8A5F"/>
                </a:solidFill>
                <a:latin typeface="DM Sans"/>
              </a:defRPr>
            </a:pPr>
            <a:r>
              <a:t>DOCUMENT PARSING — PRIMARY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10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Docling (IBM)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&gt;=2.0 — direct Python import (no Docker sidecar)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30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Capabilities</a:t>
            </a:r>
            <a:r>
              <a:rPr sz="1000" b="0">
                <a:solidFill>
                  <a:srgbClr val="57534E"/>
                </a:solidFill>
                <a:latin typeface="DM Sans"/>
              </a:rPr>
              <a:t>  tables, hierarchy, structure preservation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50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OCR</a:t>
            </a:r>
            <a:r>
              <a:rPr sz="1000" b="0">
                <a:solidFill>
                  <a:srgbClr val="57534E"/>
                </a:solidFill>
                <a:latin typeface="DM Sans"/>
              </a:rPr>
              <a:t>  disabled (do_ocr=False) — Claude Vision handles scans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706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Crash recovery</a:t>
            </a:r>
            <a:r>
              <a:rPr sz="1000" b="0">
                <a:solidFill>
                  <a:srgbClr val="57534E"/>
                </a:solidFill>
                <a:latin typeface="DM Sans"/>
              </a:rPr>
              <a:t>  Redis tracks attempts, auto-skips on SIGABRT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37560"/>
            <a:ext cx="5212080" cy="1463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355848"/>
            <a:ext cx="5175504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4728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9488"/>
                </a:solidFill>
                <a:latin typeface="DM Sans"/>
              </a:defRPr>
            </a:pPr>
            <a:r>
              <a:t>SEMANTIC CHUNKING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764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Chonkie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&gt;=1.0 — semantic chunker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96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Embedding model</a:t>
            </a:r>
            <a:r>
              <a:rPr sz="1000" b="0">
                <a:solidFill>
                  <a:srgbClr val="57534E"/>
                </a:solidFill>
                <a:latin typeface="DM Sans"/>
              </a:rPr>
              <a:t>  minishlab/potion-base-32M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16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Config</a:t>
            </a:r>
            <a:r>
              <a:rPr sz="1000" b="0">
                <a:solidFill>
                  <a:srgbClr val="57534E"/>
                </a:solidFill>
                <a:latin typeface="DM Sans"/>
              </a:rPr>
              <a:t>  400 token target, 50 token overlap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983479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6208" y="5001767"/>
            <a:ext cx="5175504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093207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DM Sans"/>
              </a:defRPr>
            </a:pPr>
            <a:r>
              <a:t>FALLBACK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2239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PyMuPDF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&gt;=1.25 — PDF text extraction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424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python-docx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&gt;=1.1 — Word 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06247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openpyxl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&gt;=3.1 — Excel spreadsheets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38251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Pillow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&gt;=11.0 — image resize/convert for 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70255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Claude Vision</a:t>
            </a:r>
            <a:r>
              <a:rPr sz="1000" b="0">
                <a:solidFill>
                  <a:srgbClr val="57534E"/>
                </a:solidFill>
                <a:latin typeface="DM Sans"/>
              </a:rPr>
              <a:t>  scanned/handwritten → base64 PNG → Claude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Frontend: React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Vite + React 19 + TypeScript — static build, no Node.js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89888"/>
            <a:ext cx="3346704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DM Sans"/>
              </a:defRPr>
            </a:pPr>
            <a:r>
              <a:t>BUILD &amp;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Vite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&gt;=7.3.1 — build tool + dev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React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&gt;=19.2 — StrictMode, createRoot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TypeScript</a:t>
            </a:r>
            <a:r>
              <a:rPr sz="1000" b="0">
                <a:solidFill>
                  <a:srgbClr val="57534E"/>
                </a:solidFill>
                <a:latin typeface="DM Sans"/>
              </a:rPr>
              <a:t>  ~5.9.3 — strict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Tailwind CSS v4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&gt;=4.1.18 — CSS-based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tw-animate-css</a:t>
            </a:r>
            <a:r>
              <a:rPr sz="1000" b="0">
                <a:solidFill>
                  <a:srgbClr val="57534E"/>
                </a:solidFill>
                <a:latin typeface="DM Sans"/>
              </a:rPr>
              <a:t>  animation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8" y="3675888"/>
            <a:ext cx="3346704" cy="45720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8A5F"/>
                </a:solidFill>
                <a:latin typeface="DM Sans"/>
              </a:defRPr>
            </a:pPr>
            <a:r>
              <a:t>ROUTING &amp;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react-router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&gt;=7.13 — createBrowserRouter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TanStack React Query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&gt;=5.90 — server state caching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36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Zustand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&gt;=5.0 — auth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56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next-themes</a:t>
            </a:r>
            <a:r>
              <a:rPr sz="1000" b="0">
                <a:solidFill>
                  <a:srgbClr val="57534E"/>
                </a:solidFill>
                <a:latin typeface="DM Sans"/>
              </a:rPr>
              <a:t>  light/dark mode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37160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1389888"/>
            <a:ext cx="33467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DM Sans"/>
              </a:defRPr>
            </a:pPr>
            <a:r>
              <a:t>UI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Radix UI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&gt;=1.4.3 — Dialog, Dropdown, etc.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130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Lucide React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&gt;=0.564 — icon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Sonner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&gt;=2.0 — toast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70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Recharts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&gt;=3.7 — compliance score 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90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react-dropzone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&gt;=15.0 — file upload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65760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3675888"/>
            <a:ext cx="3346704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767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DM Sans"/>
              </a:defRPr>
            </a:pPr>
            <a:r>
              <a:t>CONTENT RENDERING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96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react-markdown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&gt;=10.1 — chat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remark-gfm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&gt;=4.0 — GitHub Flavored 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1371600"/>
            <a:ext cx="33832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1389888"/>
            <a:ext cx="3346704" cy="45720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1481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67F17"/>
                </a:solidFill>
                <a:latin typeface="DM Sans"/>
              </a:defRPr>
            </a:pPr>
            <a:r>
              <a:t>TYPOGRAPHY &amp; BRAND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DM Sans</a:t>
            </a:r>
            <a:r>
              <a:rPr sz="1000" b="0">
                <a:solidFill>
                  <a:srgbClr val="57534E"/>
                </a:solidFill>
                <a:latin typeface="DM Sans"/>
              </a:rPr>
              <a:t>  UI text (Google Fonts)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130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JetBrains Mono</a:t>
            </a:r>
            <a:r>
              <a:rPr sz="1000" b="0">
                <a:solidFill>
                  <a:srgbClr val="57534E"/>
                </a:solidFill>
                <a:latin typeface="DM Sans"/>
              </a:rPr>
              <a:t>  data/code display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450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Construction Orange</a:t>
            </a:r>
            <a:r>
              <a:rPr sz="1000" b="0">
                <a:solidFill>
                  <a:srgbClr val="57534E"/>
                </a:solidFill>
                <a:latin typeface="DM Sans"/>
              </a:rPr>
              <a:t>  #C67F17 — primary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77063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Warm Off-White</a:t>
            </a:r>
            <a:r>
              <a:rPr sz="1000" b="0">
                <a:solidFill>
                  <a:srgbClr val="57534E"/>
                </a:solidFill>
                <a:latin typeface="DM Sans"/>
              </a:rPr>
              <a:t>  #FAFAF8 — background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337560"/>
            <a:ext cx="3383280" cy="1463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5008" y="3355848"/>
            <a:ext cx="3346704" cy="45720"/>
          </a:xfrm>
          <a:prstGeom prst="rect">
            <a:avLst/>
          </a:prstGeom>
          <a:solidFill>
            <a:srgbClr val="575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447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7534E"/>
                </a:solidFill>
                <a:latin typeface="DM Sans"/>
              </a:defRPr>
            </a:pPr>
            <a:r>
              <a:t>DEV 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776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ESLint</a:t>
            </a:r>
            <a:r>
              <a:rPr sz="1000" b="0">
                <a:solidFill>
                  <a:srgbClr val="57534E"/>
                </a:solidFill>
                <a:latin typeface="DM Sans"/>
              </a:rPr>
              <a:t>  &gt;=9.39 + react-hooks plugin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096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Vite proxy</a:t>
            </a:r>
            <a:r>
              <a:rPr sz="1000" b="0">
                <a:solidFill>
                  <a:srgbClr val="57534E"/>
                </a:solidFill>
                <a:latin typeface="DM Sans"/>
              </a:rPr>
              <a:t>  /api → localhost:8000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4165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Path aliases</a:t>
            </a:r>
            <a:r>
              <a:rPr sz="1000" b="0">
                <a:solidFill>
                  <a:srgbClr val="57534E"/>
                </a:solidFill>
                <a:latin typeface="DM Sans"/>
              </a:rPr>
              <a:t>  @ → src/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Search &amp; Vector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Hybrid vector + full-text search with AI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481328"/>
            <a:ext cx="188366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DM Sans"/>
              </a:defRPr>
            </a:pPr>
            <a:r>
              <a:t>1. 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DM Sans"/>
              </a:defRPr>
            </a:pPr>
            <a:r>
              <a:t>Claude Haiku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Query intent</a:t>
            </a:r>
            <a:br/>
            <a:r>
              <a:t>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4630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8648" y="1481328"/>
            <a:ext cx="18836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DM Sans"/>
              </a:defRPr>
            </a:pPr>
            <a:r>
              <a:t>2. 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DM Sans"/>
              </a:defRPr>
            </a:pPr>
            <a:r>
              <a:t>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text-embedding-3-large</a:t>
            </a:r>
            <a:br/>
            <a:r>
              <a:t>1536 dimensions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4630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7488" y="1481328"/>
            <a:ext cx="1883664" cy="54864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8A5F"/>
                </a:solidFill>
                <a:latin typeface="DM Sans"/>
              </a:defRPr>
            </a:pPr>
            <a:r>
              <a:t>3.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DM Sans"/>
              </a:defRPr>
            </a:pPr>
            <a:r>
              <a:t>Postgres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pgvector cosine +</a:t>
            </a:r>
            <a:br/>
            <a:r>
              <a:t>FTS ts_rank_cd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14630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96328" y="1481328"/>
            <a:ext cx="188366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DM Sans"/>
              </a:defRPr>
            </a:pPr>
            <a:r>
              <a:t>4. 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DM Sans"/>
              </a:defRPr>
            </a:pPr>
            <a:r>
              <a:t>Hybrid merge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Normalize scores</a:t>
            </a:r>
            <a:br/>
            <a:r>
              <a:t>dual-match 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1031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1463040"/>
            <a:ext cx="1920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45168" y="1481328"/>
            <a:ext cx="188366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DM Sans"/>
              </a:defRPr>
            </a:pPr>
            <a:r>
              <a:t>5. 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1920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1917"/>
                </a:solidFill>
                <a:latin typeface="DM Sans"/>
              </a:defRPr>
            </a:pPr>
            <a:r>
              <a:t>Claude Sonnet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286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SSE streaming</a:t>
            </a:r>
            <a:br/>
            <a:r>
              <a:t>via FastAPI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657600"/>
            <a:ext cx="50292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3675888"/>
            <a:ext cx="499262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7673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C3AED"/>
                </a:solidFill>
                <a:latin typeface="DM Sans"/>
              </a:defRPr>
            </a:pPr>
            <a:r>
              <a:t>VECTOR SEARCH (PGVECTOR)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0965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Operator</a:t>
            </a:r>
            <a:r>
              <a:rPr sz="1000" b="0">
                <a:solidFill>
                  <a:srgbClr val="57534E"/>
                </a:solidFill>
                <a:latin typeface="DM Sans"/>
              </a:rPr>
              <a:t>  &lt;=&gt; cosine similarity on embedding column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16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Dimensions</a:t>
            </a:r>
            <a:r>
              <a:rPr sz="1000" b="0">
                <a:solidFill>
                  <a:srgbClr val="57534E"/>
                </a:solidFill>
                <a:latin typeface="DM Sans"/>
              </a:rPr>
              <a:t>  1536 (text-embedding-3-large)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7365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Scoring</a:t>
            </a:r>
            <a:r>
              <a:rPr sz="1000" b="0">
                <a:solidFill>
                  <a:srgbClr val="57534E"/>
                </a:solidFill>
                <a:latin typeface="DM Sans"/>
              </a:rPr>
              <a:t>  type weights + recency boost + scope weighting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05663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Diversity</a:t>
            </a:r>
            <a:r>
              <a:rPr sz="1000" b="0">
                <a:solidFill>
                  <a:srgbClr val="57534E"/>
                </a:solidFill>
                <a:latin typeface="DM Sans"/>
              </a:rPr>
              <a:t>  max 3 chunks/doc, 1 per section, top 10 results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657600"/>
            <a:ext cx="5212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3675888"/>
            <a:ext cx="5175504" cy="45720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7673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8A5F"/>
                </a:solidFill>
                <a:latin typeface="DM Sans"/>
              </a:defRPr>
            </a:pPr>
            <a:r>
              <a:t>FULL-TEXT SEARCH (POSTGRES FTS)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09651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Column</a:t>
            </a:r>
            <a:r>
              <a:rPr sz="1000" b="0">
                <a:solidFill>
                  <a:srgbClr val="57534E"/>
                </a:solidFill>
                <a:latin typeface="DM Sans"/>
              </a:rPr>
              <a:t>  search_vector (tsvector) on DocumentChunk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416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Index</a:t>
            </a:r>
            <a:r>
              <a:rPr sz="1000" b="0">
                <a:solidFill>
                  <a:srgbClr val="57534E"/>
                </a:solidFill>
                <a:latin typeface="DM Sans"/>
              </a:rPr>
              <a:t>  GIN index for fast lookup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7365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Query</a:t>
            </a:r>
            <a:r>
              <a:rPr sz="1000" b="0">
                <a:solidFill>
                  <a:srgbClr val="57534E"/>
                </a:solidFill>
                <a:latin typeface="DM Sans"/>
              </a:rPr>
              <a:t>  websearch_to_tsquery() + ts_rank_cd()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05663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Hybrid merge</a:t>
            </a:r>
            <a:r>
              <a:rPr sz="1000" b="0">
                <a:solidFill>
                  <a:srgbClr val="57534E"/>
                </a:solidFill>
                <a:latin typeface="DM Sans"/>
              </a:rPr>
              <a:t>  FTS normalized 0.3-0.7, dual-match +10%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Document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Celery task: download → parse → chunk → embed → store → finalize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151790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00200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DM Sans"/>
              </a:defRPr>
            </a:pPr>
            <a:r>
              <a:t>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6596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R2 via boto3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65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67712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481328"/>
            <a:ext cx="1517904" cy="54864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600200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8A5F"/>
                </a:solidFill>
                <a:latin typeface="DM Sans"/>
              </a:defRPr>
            </a:pPr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96596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Docling → PyMuPDF</a:t>
            </a:r>
            <a:br/>
            <a:r>
              <a:t>→ Claude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1965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86784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05072" y="1481328"/>
            <a:ext cx="151790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96512" y="1600200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DM Sans"/>
              </a:defRPr>
            </a:pPr>
            <a:r>
              <a:t>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96596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Chonkie semantic</a:t>
            </a:r>
            <a:br/>
            <a:r>
              <a:t>potion-base-32M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1965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05856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24144" y="1481328"/>
            <a:ext cx="1517904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1600200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DM Sans"/>
              </a:defRPr>
            </a:pPr>
            <a:r>
              <a:t>EMBED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5584" y="196596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OpenAI</a:t>
            </a:r>
            <a:br/>
            <a:r>
              <a:t>1536-dim vectors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1965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4928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3216" y="1481328"/>
            <a:ext cx="1517904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4656" y="1600200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DM Sans"/>
              </a:defRPr>
            </a:pPr>
            <a:r>
              <a:t>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196596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Postgres +</a:t>
            </a:r>
            <a:br/>
            <a:r>
              <a:t>pgvector + FTS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196596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7534E"/>
                </a:solidFill>
                <a:latin typeface="DM San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463040"/>
            <a:ext cx="1554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62288" y="1481328"/>
            <a:ext cx="1517904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1600200"/>
            <a:ext cx="13350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11D48"/>
                </a:solidFill>
                <a:latin typeface="DM Sans"/>
              </a:defRPr>
            </a:pPr>
            <a:r>
              <a:t>FINALIZE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1965960"/>
            <a:ext cx="13350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7534E"/>
                </a:solidFill>
                <a:latin typeface="DM Sans"/>
              </a:defRPr>
            </a:pPr>
            <a:r>
              <a:t>Status → READY</a:t>
            </a:r>
            <a:br/>
            <a:r>
              <a:t>+ compliance parse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291840"/>
            <a:ext cx="50292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3310128"/>
            <a:ext cx="4992624" cy="45720"/>
          </a:xfrm>
          <a:prstGeom prst="rect">
            <a:avLst/>
          </a:prstGeom>
          <a:solidFill>
            <a:srgbClr val="0F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4015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8A5F"/>
                </a:solidFill>
                <a:latin typeface="DM Sans"/>
              </a:defRPr>
            </a:pPr>
            <a:r>
              <a:t>3-TIER PARSING FALLBACK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730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Tier 1: Docling</a:t>
            </a:r>
            <a:r>
              <a:rPr sz="1000" b="0">
                <a:solidFill>
                  <a:srgbClr val="57534E"/>
                </a:solidFill>
                <a:latin typeface="DM Sans"/>
              </a:rPr>
              <a:t>  text-based PDFs — structure, tables, headings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0507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Tier 2: PyMuPDF</a:t>
            </a:r>
            <a:r>
              <a:rPr sz="1000" b="0">
                <a:solidFill>
                  <a:srgbClr val="57534E"/>
                </a:solidFill>
                <a:latin typeface="DM Sans"/>
              </a:rPr>
              <a:t>  local fallback when Docling crashes (SIGABRT)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3708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Tier 3: Claude Vision</a:t>
            </a:r>
            <a:r>
              <a:rPr sz="1000" b="0">
                <a:solidFill>
                  <a:srgbClr val="57534E"/>
                </a:solidFill>
                <a:latin typeface="DM Sans"/>
              </a:rPr>
              <a:t>  scanned/handwritten — page images via Sonnet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90871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Auto-skip</a:t>
            </a:r>
            <a:r>
              <a:rPr sz="1000" b="0">
                <a:solidFill>
                  <a:srgbClr val="57534E"/>
                </a:solidFill>
                <a:latin typeface="DM Sans"/>
              </a:rPr>
              <a:t>  Redis tracks Docling crashes, skips on requeue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291840"/>
            <a:ext cx="52120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3310128"/>
            <a:ext cx="5175504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4015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DM Sans"/>
              </a:defRPr>
            </a:pPr>
            <a:r>
              <a:t>CELERY TASK CONFIG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7307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Retries</a:t>
            </a:r>
            <a:r>
              <a:rPr sz="1000" b="0">
                <a:solidFill>
                  <a:srgbClr val="57534E"/>
                </a:solidFill>
                <a:latin typeface="DM Sans"/>
              </a:rPr>
              <a:t>  max 3 with 10s delay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05079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Reliability</a:t>
            </a:r>
            <a:r>
              <a:rPr sz="1000" b="0">
                <a:solidFill>
                  <a:srgbClr val="57534E"/>
                </a:solidFill>
                <a:latin typeface="DM Sans"/>
              </a:rPr>
              <a:t>  acks_late + reject_on_worker_lost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3708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Crash tracking</a:t>
            </a:r>
            <a:r>
              <a:rPr sz="1000" b="0">
                <a:solidFill>
                  <a:srgbClr val="57534E"/>
                </a:solidFill>
                <a:latin typeface="DM Sans"/>
              </a:rPr>
              <a:t>  Redis key per document (1hr TTL)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69087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Compliance</a:t>
            </a:r>
            <a:r>
              <a:rPr sz="1000" b="0">
                <a:solidFill>
                  <a:srgbClr val="57534E"/>
                </a:solidFill>
                <a:latin typeface="DM Sans"/>
              </a:rPr>
              <a:t>  CONTRACT docs auto-trigger clause parsing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394960"/>
            <a:ext cx="106984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9808" y="5413248"/>
            <a:ext cx="10661904" cy="457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50468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38CA"/>
                </a:solidFill>
                <a:latin typeface="DM Sans"/>
              </a:defRPr>
            </a:pPr>
            <a:r>
              <a:t>SCHEDULED TASKS (CELERY BEAT)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83387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RFI aging</a:t>
            </a:r>
            <a:r>
              <a:rPr sz="1000" b="0">
                <a:solidFill>
                  <a:srgbClr val="57534E"/>
                </a:solidFill>
                <a:latin typeface="DM Sans"/>
              </a:rPr>
              <a:t>  daily 8 AM — updates aging status on open RFIs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15391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Compliance severity</a:t>
            </a:r>
            <a:r>
              <a:rPr sz="1000" b="0">
                <a:solidFill>
                  <a:srgbClr val="57534E"/>
                </a:solidFill>
                <a:latin typeface="DM Sans"/>
              </a:rPr>
              <a:t>  hourly — recalculates deadline severity levels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473952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Compliance snapshot</a:t>
            </a:r>
            <a:r>
              <a:rPr sz="1000" b="0">
                <a:solidFill>
                  <a:srgbClr val="57534E"/>
                </a:solidFill>
                <a:latin typeface="DM Sans"/>
              </a:rPr>
              <a:t>  daily 2 AM — captures compliance score history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6793991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C1917"/>
                </a:solidFill>
                <a:latin typeface="DM Sans"/>
              </a:rPr>
              <a:t>Compliance summary</a:t>
            </a:r>
            <a:r>
              <a:rPr sz="1000" b="0">
                <a:solidFill>
                  <a:srgbClr val="57534E"/>
                </a:solidFill>
                <a:latin typeface="DM Sans"/>
              </a:rPr>
              <a:t>  weekly Monday 8 AM — generates weekly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6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C1917"/>
                </a:solidFill>
                <a:latin typeface="DM Sans"/>
              </a:defRPr>
            </a:pPr>
            <a:r>
              <a:t>What Changed: Next.js → Python +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7534E"/>
                </a:solidFill>
                <a:latin typeface="DM Sans"/>
              </a:defRPr>
            </a:pPr>
            <a:r>
              <a:t>Same database, same features, better architecture for AI workloads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783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DM Sans"/>
              </a:defRPr>
            </a:pPr>
            <a:r>
              <a:t>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463040"/>
            <a:ext cx="342900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15087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DM Sans"/>
              </a:defRPr>
            </a:pPr>
            <a:r>
              <a:t>Before (Next.js)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406908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50876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DM Sans"/>
              </a:defRPr>
            </a:pPr>
            <a:r>
              <a:t>After (Python + React)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74520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01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Backend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874520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90195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Next.js App Router (Node.js)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874520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90195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FastAPI (Python 3.12)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203704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3113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3704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223113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Next.js React (SSR)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203704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23113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React 19 + Vite 7 (SPA)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532888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5603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532888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25603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Prisma v7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532888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56032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SQLAlchemy 2 + Alembic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862072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28895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Auth / JWT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862072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88950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jose (Edge-compatible)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862072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889504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PyJWT (HS256, same tokens)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191256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2186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Background jobs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3191256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321868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Inngest (event-driven)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191256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21868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Celery + Redis (task queue)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520440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35478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Document parsing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3520440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80" y="354787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Docker sidecar (Docling)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35040" y="3520440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354787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Direct Python import (Docling)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3849624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387705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Semantic chunking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849624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80" y="387705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Docker sidecar (Chonkie)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849624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387705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Direct Python import (Chonkie)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178808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20624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PDF fallback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4178808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420624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pdf-parse (npm)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35040" y="4178808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PyMuPDF (Python)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1520" y="4507992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453542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Email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507992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80" y="453542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SendGrid API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4507992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4535424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smtplib + Gmail SMTP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4837176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486460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SSE streaming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0" y="4837176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97480" y="486460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Next.js ReadableStream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35040" y="4837176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72200" y="4864608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FastAPI StreamingResponse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166360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519379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AI SDKs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5166360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97480" y="51937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@anthropic-ai/sdk (JS)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35040" y="5166360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519379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anthropic (Python)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5495544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552297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Embeddings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0" y="5495544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552297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openai (JS)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5495544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72200" y="552297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openai (Python)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1520" y="5824728"/>
            <a:ext cx="1783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8680" y="58521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Database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0" y="5824728"/>
            <a:ext cx="3429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97480" y="585216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Neon Postgres + pgvector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35040" y="5824728"/>
            <a:ext cx="40690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72200" y="585216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Same (zero migration)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" y="6153912"/>
            <a:ext cx="1783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" y="618134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1C1917"/>
                </a:solidFill>
                <a:latin typeface="DM Sans"/>
              </a:defRPr>
            </a:pPr>
            <a:r>
              <a:t>File storage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60320" y="6153912"/>
            <a:ext cx="342900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97480" y="618134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7534E"/>
                </a:solidFill>
                <a:latin typeface="DM Sans"/>
              </a:defRPr>
            </a:pPr>
            <a:r>
              <a:t>Cloudflare R2 (aws-sdk)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35040" y="6153912"/>
            <a:ext cx="4069080" cy="310896"/>
          </a:xfrm>
          <a:prstGeom prst="rect">
            <a:avLst/>
          </a:prstGeom>
          <a:solidFill>
            <a:srgbClr val="F5F0EB"/>
          </a:solidFill>
          <a:ln w="12700">
            <a:solidFill>
              <a:srgbClr val="E8E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72200" y="6181344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0F8A5F"/>
                </a:solidFill>
                <a:latin typeface="DM Sans"/>
              </a:defRPr>
            </a:pPr>
            <a:r>
              <a:t>Cloudflare R2 (boto3)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