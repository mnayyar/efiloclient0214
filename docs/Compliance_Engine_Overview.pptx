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67F17"/>
                </a:solidFill>
                <a:latin typeface="Calibri"/>
              </a:defRPr>
            </a:pPr>
            <a:r>
              <a:t>COMPLIANCE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Contract Notice Tracking &amp; Claims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893"/>
                </a:solidFill>
                <a:latin typeface="Calibri"/>
              </a:defRPr>
            </a:pPr>
            <a:r>
              <a:t>How efilo.ai monitors your contract deadlines, protects your claims rights,</a:t>
            </a:r>
            <a:br/>
            <a:r>
              <a:t>and keeps your team compliant.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Calibri"/>
              </a:defRPr>
            </a:pPr>
            <a:r>
              <a:t>efilo.ai  |  Your Projects. Finally Connected.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Calibri"/>
              </a:defRPr>
            </a:pPr>
            <a:r>
              <a:t>How the Compliance Engine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Calibri"/>
              </a:defRPr>
            </a:pPr>
            <a:r>
              <a:t>From contract upload to claims protection — fully automated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640080" cy="640080"/>
          </a:xfrm>
          <a:prstGeom prst="ellipse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03120" y="2011680"/>
            <a:ext cx="548640" cy="274320"/>
          </a:xfrm>
          <a:prstGeom prst="rightArrow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917"/>
                </a:solidFill>
                <a:latin typeface="Calibri"/>
              </a:defRPr>
            </a:pPr>
            <a:r>
              <a:t>Upload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534E"/>
                </a:solidFill>
                <a:latin typeface="Calibri"/>
              </a:defRPr>
            </a:pPr>
            <a:r>
              <a:t>Upload your subcontract</a:t>
            </a:r>
            <a:br/>
            <a:r>
              <a:t>agreement (PDF)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18288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89120" y="2011680"/>
            <a:ext cx="548640" cy="274320"/>
          </a:xfrm>
          <a:prstGeom prst="rightArrow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917"/>
                </a:solidFill>
                <a:latin typeface="Calibri"/>
              </a:defRPr>
            </a:pPr>
            <a:r>
              <a:t>AI Extracts Clauses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534E"/>
                </a:solidFill>
                <a:latin typeface="Calibri"/>
              </a:defRPr>
            </a:pPr>
            <a:r>
              <a:t>Claude reads every notice</a:t>
            </a:r>
            <a:br/>
            <a:r>
              <a:t>provision &amp; deadline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0" y="1828800"/>
            <a:ext cx="640080" cy="6400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75120" y="2011680"/>
            <a:ext cx="548640" cy="274320"/>
          </a:xfrm>
          <a:prstGeom prst="rightArrow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917"/>
                </a:solidFill>
                <a:latin typeface="Calibri"/>
              </a:defRPr>
            </a:pPr>
            <a:r>
              <a:t>PM Reviews Flags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534E"/>
                </a:solidFill>
                <a:latin typeface="Calibri"/>
              </a:defRPr>
            </a:pPr>
            <a:r>
              <a:t>Ambiguous clauses flagged</a:t>
            </a:r>
            <a:br/>
            <a:r>
              <a:t>with specific review reasons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182880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61120" y="2011680"/>
            <a:ext cx="548640" cy="274320"/>
          </a:xfrm>
          <a:prstGeom prst="rightArrow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917"/>
                </a:solidFill>
                <a:latin typeface="Calibri"/>
              </a:defRPr>
            </a:pPr>
            <a:r>
              <a:t>Deadlines Activate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534E"/>
                </a:solidFill>
                <a:latin typeface="Calibri"/>
              </a:defRPr>
            </a:pPr>
            <a:r>
              <a:t>RFIs &amp; change orders</a:t>
            </a:r>
            <a:br/>
            <a:r>
              <a:t>trigger countdown timers</a:t>
            </a:r>
          </a:p>
        </p:txBody>
      </p:sp>
      <p:sp>
        <p:nvSpPr>
          <p:cNvPr id="20" name="Oval 19"/>
          <p:cNvSpPr/>
          <p:nvPr/>
        </p:nvSpPr>
        <p:spPr>
          <a:xfrm>
            <a:off x="10332720" y="1828800"/>
            <a:ext cx="640080" cy="640080"/>
          </a:xfrm>
          <a:prstGeom prst="ellipse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917"/>
                </a:solidFill>
                <a:latin typeface="Calibri"/>
              </a:defRPr>
            </a:pPr>
            <a:r>
              <a:t>Notices Generated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534E"/>
                </a:solidFill>
                <a:latin typeface="Calibri"/>
              </a:defRPr>
            </a:pPr>
            <a:r>
              <a:t>AI drafts compliant notice</a:t>
            </a:r>
            <a:br/>
            <a:r>
              <a:t>letters for your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89120"/>
            <a:ext cx="10972800" cy="164592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7F17"/>
                </a:solidFill>
                <a:latin typeface="Calibri"/>
              </a:defRPr>
            </a:pPr>
            <a:r>
              <a:t>Key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Calibri"/>
              </a:defRPr>
            </a:pPr>
            <a:r>
              <a:t>The compliance engine doesn't just track deadlines — it calculates them from your actual contract language.</a:t>
            </a:r>
            <a:br/>
            <a:r>
              <a:t>Each clause has its own deadline period (e.g., 3 calendar days, 10 business days) and the clock starts</a:t>
            </a:r>
            <a:br/>
            <a:r>
              <a:t>when a trigger event occurs (RFI flagged for cost impact, change order issued, etc.).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Calibri"/>
              </a:defRPr>
            </a:pPr>
            <a:r>
              <a:t>Dashboard: KPI Toolbar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Calibri"/>
              </a:defRPr>
            </a:pPr>
            <a:r>
              <a:t>At-a-glance compliance health — always visible at the 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011680" cy="2560320"/>
          </a:xfrm>
          <a:prstGeom prst="roundRect">
            <a:avLst/>
          </a:prstGeom>
          <a:solidFill>
            <a:srgbClr val="FEF3E2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7534E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67F17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Overall compliance score.</a:t>
            </a:r>
            <a:br/>
            <a:r>
              <a:t>Starts at 100%, drops when</a:t>
            </a:r>
            <a:br/>
            <a:r>
              <a:t>deadlines are missed.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645920"/>
            <a:ext cx="2011680" cy="2560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7534E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C262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Deadlines expiring within</a:t>
            </a:r>
            <a:br/>
            <a:r>
              <a:t>3 days or already expired.</a:t>
            </a:r>
            <a:br/>
            <a:r>
              <a:t>Requires immediate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2011680" cy="2560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7534E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Total active deadlines</a:t>
            </a:r>
            <a:br/>
            <a:r>
              <a:t>currently being tracked</a:t>
            </a:r>
            <a:br/>
            <a:r>
              <a:t>across all clauses.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645920"/>
            <a:ext cx="2011680" cy="2560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7534E"/>
                </a:solidFill>
                <a:latin typeface="Calibri"/>
              </a:defRPr>
            </a:pPr>
            <a:r>
              <a:t>At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9770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Deadlines in WARNING or</a:t>
            </a:r>
            <a:br/>
            <a:r>
              <a:t>CRITICAL severity. These</a:t>
            </a:r>
            <a:br/>
            <a:r>
              <a:t>need attention soon.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645920"/>
            <a:ext cx="2011680" cy="2560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7534E"/>
                </a:solidFill>
                <a:latin typeface="Calibri"/>
              </a:defRPr>
            </a:pPr>
            <a:r>
              <a:t>Streak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8A5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Consecutive on-time notices.</a:t>
            </a:r>
            <a:br/>
            <a:r>
              <a:t>Builds confidence in your</a:t>
            </a:r>
            <a:br/>
            <a:r>
              <a:t>compliance track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Calibri"/>
              </a:defRPr>
            </a:pPr>
            <a:r>
              <a:t>Buttons:  Dashboard — expands the score ring, trend chart, and risk summary panels.</a:t>
            </a:r>
            <a:br/>
            <a:r>
              <a:t>              Refresh — forces a live recalculation of the compliance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Calibri"/>
              </a:defRPr>
            </a:pPr>
            <a:r>
              <a:t>Dashboard: Expanded Panels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Calibri"/>
              </a:defRPr>
            </a:pPr>
            <a:r>
              <a:t>Click "Dashboard" button to reveal these three panels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Score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Visual donut chart showing your compliance score (0-100%)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Green (90%+) = Excellent compliance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Orange (70-89%) = Needs attention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Red (&lt;70%) = Critical — deadlines being missed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Shows current streak count and verdict text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Protected claims value ($ amount your notices have preserved)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Score Trend (30d)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Area chart showing compliance percentage over time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30-day rolling window by default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Tracks daily snapshots (auto-captured at 2 AM)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Helps identify declining compliance before it becomes critical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Shows "Not enough data" until 2+ snapshots exist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Risk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Breakdown of active deadlines by severity level: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  CRITICAL (red) — 3 days or less remaining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  WARNING (amber) — 3 to 7 days remaining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  INFO (blue) — 7 to 14 days remaining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  LOW (gray) — more than 14 days remaining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  EXPIRED (red) — past deadline, claims may be at risk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Quick view of where to focus attention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Calibri"/>
              </a:defRPr>
            </a:pPr>
            <a:r>
              <a:t>Tab: Deadlines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Calibri"/>
              </a:defRPr>
            </a:pPr>
            <a:r>
              <a:t>Live countdown timers for every active compliance obligation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777240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Article 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Delay Notice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7534E"/>
                </a:solidFill>
                <a:latin typeface="Calibri"/>
              </a:defRPr>
            </a:pPr>
            <a:r>
              <a:t>RFI #0001: Spec vs. Addendum Conflict on RTU Capacity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828800"/>
            <a:ext cx="1005840" cy="4572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3d 14h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777240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Article 6.2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Claims Notice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7534E"/>
                </a:solidFill>
                <a:latin typeface="Calibri"/>
              </a:defRPr>
            </a:pPr>
            <a:r>
              <a:t>RFI #0001: Spec vs. Addendum Conflict on RTU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834640"/>
            <a:ext cx="1005840" cy="4572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7d 22h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777240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Article 5.2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Proposed CO Notice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7534E"/>
                </a:solidFill>
                <a:latin typeface="Calibri"/>
              </a:defRPr>
            </a:pPr>
            <a:r>
              <a:t>RFI #0001: Spec vs. Addendum Conflict on RTU Capacity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840480"/>
            <a:ext cx="1005840" cy="457200"/>
          </a:xfrm>
          <a:prstGeom prst="roundRect">
            <a:avLst/>
          </a:prstGeom>
          <a:solidFill>
            <a:srgbClr val="57534E"/>
          </a:solidFill>
          <a:ln w="12700">
            <a:solidFill>
              <a:srgbClr val="575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1917"/>
                </a:solidFill>
              </a:defRPr>
            </a:pPr>
            <a:r>
              <a:t>14d 8h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645920"/>
            <a:ext cx="3108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Deadline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19456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Live countdown (days + hours) updates every 30 seconds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Severity auto-escalates as deadline approaches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Filter by severity (Critical, Warning, Info, Low)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Filter by status (Active, Completed, Expired, Waived)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Click any deadline to see full details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Waive option — skip a deadline with documented reason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Trigger event links back to the source RFI or change order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Each deadline maps to a specific contract clause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10972800" cy="128016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7F17"/>
                </a:solidFill>
                <a:latin typeface="Calibri"/>
              </a:defRPr>
            </a:pPr>
            <a:r>
              <a:t>How deadlines are created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Calibri"/>
              </a:defRPr>
            </a:pPr>
            <a:r>
              <a:t>Deadlines are NOT created manually. They activate automatically when a trigger event occurs:</a:t>
            </a:r>
            <a:br/>
            <a:r>
              <a:t>  - An RFI is flagged with cost impact (CO flag) → matching CLAIMS and CHANGE ORDER clauses fire</a:t>
            </a:r>
            <a:br/>
            <a:r>
              <a:t>  - A change event is logged → matching clauses based on change type fire</a:t>
            </a:r>
            <a:br/>
            <a:r>
              <a:t>Each clause has its own deadline period, so one trigger event can create multiple deadlines with different due 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Calibri"/>
              </a:defRPr>
            </a:pPr>
            <a:r>
              <a:t>Tab: Clauses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Calibri"/>
              </a:defRPr>
            </a:pPr>
            <a:r>
              <a:t>AI-extracted contract provisions with human review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7772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F8A5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Calibri"/>
              </a:defRPr>
            </a:pPr>
            <a:r>
              <a:t>Claims Notice  —  Article 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Claims Procedure  ·  7 calendar days  ·  written notice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1188720" cy="4114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8A5F"/>
                </a:solidFill>
              </a:defRPr>
            </a:pPr>
            <a:r>
              <a:t>Confirmed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7772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770632"/>
            <a:ext cx="457200" cy="457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072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Calibri"/>
              </a:defRPr>
            </a:pPr>
            <a:r>
              <a:t>Hazardous Conditions Notice  —  Article 6.4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Notice Requirements  ·  2 calendar days  ·  written notice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43200"/>
            <a:ext cx="1463040" cy="411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Needs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337560"/>
            <a:ext cx="6675120" cy="5029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3832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97706"/>
                </a:solidFill>
                <a:latin typeface="Calibri"/>
              </a:defRPr>
            </a:pPr>
            <a:r>
              <a:t>Review needed: Contract says "immediately" but deadline set to 2 calendar days. Confirm if 2-day window is acceptable.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645920"/>
            <a:ext cx="3108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Clause Statuses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8A5F"/>
                </a:solidFill>
                <a:latin typeface="Calibri"/>
              </a:defRPr>
            </a:pPr>
            <a:r>
              <a:t>Confirmed (green)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AI found clear, unambiguous language.</a:t>
            </a:r>
            <a:br/>
            <a:r>
              <a:t>Deadline days, type, and trigger are</a:t>
            </a:r>
            <a:br/>
            <a:r>
              <a:t>explicit. Used for deadline creation.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Needs Review (amber)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474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AI detected ambiguity — e.g., vague</a:t>
            </a:r>
            <a:br/>
            <a:r>
              <a:t>trigger ("immediately"), undefined</a:t>
            </a:r>
            <a:br/>
            <a:r>
              <a:t>scope, or conflicting language. Shows</a:t>
            </a:r>
            <a:br/>
            <a:r>
              <a:t>specific review reason. NOT used for</a:t>
            </a:r>
            <a:br/>
            <a:r>
              <a:t>deadlines until PM confirms.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67F17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617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Only confirmed clauses create</a:t>
            </a:r>
            <a:br/>
            <a:r>
              <a:t>compliance deadlines. Reviewing</a:t>
            </a:r>
            <a:br/>
            <a:r>
              <a:t>flagged clauses ensures no notice</a:t>
            </a:r>
            <a:br/>
            <a:r>
              <a:t>requirements are missed or</a:t>
            </a:r>
            <a:br/>
            <a:r>
              <a:t>misconfigured.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Calibri"/>
              </a:defRPr>
            </a:pPr>
            <a:r>
              <a:t>Tab: Notices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Calibri"/>
              </a:defRPr>
            </a:pPr>
            <a:r>
              <a:t>AI-generated compliance notice letters with delivery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2286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  <a:latin typeface="Calibri"/>
              </a:defRPr>
            </a:pPr>
            <a:r>
              <a:t>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534E"/>
                </a:solidFill>
                <a:latin typeface="Calibri"/>
              </a:defRPr>
            </a:pPr>
            <a:r>
              <a:t>AI generates the notice</a:t>
            </a:r>
            <a:br/>
            <a:r>
              <a:t>letter from clause + trigger</a:t>
            </a:r>
            <a:br/>
            <a:r>
              <a:t>event details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2468880"/>
            <a:ext cx="640080" cy="320040"/>
          </a:xfrm>
          <a:prstGeom prst="rightArrow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560320" cy="2286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PENDING</a:t>
            </a:r>
            <a:br/>
            <a: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534E"/>
                </a:solidFill>
                <a:latin typeface="Calibri"/>
              </a:defRPr>
            </a:pPr>
            <a:r>
              <a:t>PM reviews the letter,</a:t>
            </a:r>
            <a:br/>
            <a:r>
              <a:t>edits if needed, approves</a:t>
            </a:r>
            <a:br/>
            <a:r>
              <a:t>for sending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60720" y="2468880"/>
            <a:ext cx="640080" cy="320040"/>
          </a:xfrm>
          <a:prstGeom prst="rightArrow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60320" cy="2286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534E"/>
                </a:solidFill>
                <a:latin typeface="Calibri"/>
              </a:defRPr>
            </a:pPr>
            <a:r>
              <a:t>Letter approved and ready</a:t>
            </a:r>
            <a:br/>
            <a:r>
              <a:t>to send via the required</a:t>
            </a:r>
            <a:br/>
            <a:r>
              <a:t>delivery method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595360" y="2468880"/>
            <a:ext cx="640080" cy="320040"/>
          </a:xfrm>
          <a:prstGeom prst="rightArrow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560320" cy="2286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8A5F"/>
                </a:solidFill>
                <a:latin typeface="Calibri"/>
              </a:defRPr>
            </a:pPr>
            <a:r>
              <a:t>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60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534E"/>
                </a:solidFill>
                <a:latin typeface="Calibri"/>
              </a:defRPr>
            </a:pPr>
            <a:r>
              <a:t>Notice sent. Delivery</a:t>
            </a:r>
            <a:br/>
            <a:r>
              <a:t>confirmation tracked.</a:t>
            </a:r>
            <a:br/>
            <a:r>
              <a:t>On-time status recorded.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10972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Notice Letter Contents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References specific contract clause (e.g., "Pursuant to Article 6.2")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States the triggering event clearly and factually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Preserves sender's rights under the contract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Includes reservation of rights paragraph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Formal business letter tone, legally precise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Brackets [LIKE THIS] for info the PM fills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Delivery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920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Tracks required delivery method (certified mail, email, etc.)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Records sent date and delivery confirmation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Marks on-time status (sent before deadline = on-time)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On-time percentage feeds into compliance score</a:t>
            </a:r>
          </a:p>
          <a:p>
            <a:pPr>
              <a:spcAft>
                <a:spcPts val="600"/>
              </a:spcAft>
              <a:defRPr sz="1000">
                <a:solidFill>
                  <a:srgbClr val="57534E"/>
                </a:solidFill>
                <a:latin typeface="Calibri"/>
              </a:defRPr>
            </a:pPr>
            <a:r>
              <a:t>AI-generated flag shows which notices were drafted by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Calibri"/>
              </a:defRPr>
            </a:pPr>
            <a:r>
              <a:t>Automation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Calibri"/>
              </a:defRPr>
            </a:pPr>
            <a:r>
              <a:t>The compliance engine connects to every part of efilo — no manual tracking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73152" cy="1920240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Document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Calibri"/>
              </a:defRPr>
            </a:pPr>
            <a:r>
              <a:t>When a CONTRACT type document is</a:t>
            </a:r>
            <a:br/>
            <a:r>
              <a:t>uploaded, AI automatically extracts</a:t>
            </a:r>
            <a:br/>
            <a:r>
              <a:t>all notice clauses. No separate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2011680" cy="32004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67F17"/>
                </a:solidFill>
              </a:defRPr>
            </a:pPr>
            <a:r>
              <a:t>Auto-parse on upload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4592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64592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RFI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488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Calibri"/>
              </a:defRPr>
            </a:pPr>
            <a:r>
              <a:t>When an RFI is flagged with cost</a:t>
            </a:r>
            <a:br/>
            <a:r>
              <a:t>impact (CO flag), matching contract</a:t>
            </a:r>
            <a:br/>
            <a:r>
              <a:t>clauses trigger compliance deadlines.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79" y="3063240"/>
            <a:ext cx="2011680" cy="32004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CO flag → deadlines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73152" cy="1920240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Change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Calibri"/>
              </a:defRPr>
            </a:pPr>
            <a:r>
              <a:t>New change events (scope changes,</a:t>
            </a:r>
            <a:br/>
            <a:r>
              <a:t>design errors, etc.) automatically</a:t>
            </a:r>
            <a:br/>
            <a:r>
              <a:t>create deadlines from matching clauses.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49240"/>
            <a:ext cx="2011680" cy="32004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8A5F"/>
                </a:solidFill>
              </a:defRPr>
            </a:pPr>
            <a:r>
              <a:t>Change → deadlines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93192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931920"/>
            <a:ext cx="73152" cy="1920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Calibri"/>
              </a:defRPr>
            </a:pPr>
            <a:r>
              <a:t>Project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4348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Calibri"/>
              </a:defRPr>
            </a:pPr>
            <a:r>
              <a:t>Compliance contributes 20% to your</a:t>
            </a:r>
            <a:br/>
            <a:r>
              <a:t>overall project health score. Missed</a:t>
            </a:r>
            <a:br/>
            <a:r>
              <a:t>deadlines drag down project health.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79" y="5349240"/>
            <a:ext cx="2011680" cy="32004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C2626"/>
                </a:solidFill>
              </a:defRPr>
            </a:pPr>
            <a:r>
              <a:t>20% of health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Calibri"/>
              </a:defRPr>
            </a:pPr>
            <a:r>
              <a:t>Severity Levels &amp;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Calibri"/>
              </a:defRPr>
            </a:pPr>
            <a:r>
              <a:t>Deadlines automatically escalate in severity as they approach — checked hourly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97280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188720" cy="457200"/>
          </a:xfrm>
          <a:prstGeom prst="roundRect">
            <a:avLst/>
          </a:prstGeom>
          <a:solidFill>
            <a:srgbClr val="57534E"/>
          </a:solidFill>
          <a:ln w="12700">
            <a:solidFill>
              <a:srgbClr val="575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&gt; 14 days remaining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93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No immediate action needed.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is well in the future.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097280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1188720" cy="4572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7–14 days remaining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53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Coming up soon. Good time to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preparing the notice letter.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1097280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1188720" cy="4572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3–7 days remaining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Action needed this week. Draft 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review the notice letter now.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10972800" cy="8229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617720"/>
            <a:ext cx="1188720" cy="4572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≤ 3 days remaining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873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Urgent! Send the notice immediately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or risk losing your claims rights.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94960"/>
            <a:ext cx="10972800" cy="822960"/>
          </a:xfrm>
          <a:prstGeom prst="roundRect">
            <a:avLst/>
          </a:prstGeom>
          <a:solidFill>
            <a:srgbClr val="FECACA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5577840"/>
            <a:ext cx="1188720" cy="45720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Past deadline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833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Deadline missed. Claims rights may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Calibri"/>
              </a:defRPr>
            </a:pPr>
            <a:r>
              <a:t>be waived. Document the situation.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Calibri"/>
              </a:defRPr>
            </a:pPr>
            <a:r>
              <a:t>Severity is recalculated hourly by an automated cron job. No manual escalation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67F17"/>
                </a:solidFill>
                <a:latin typeface="Calibri"/>
              </a:defRPr>
            </a:pPr>
            <a:r>
              <a:t>What the Compliance Engine Protects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7F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21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Never miss a contractual notice deadline again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06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7F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24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AI reads your contract so you don't have to memorize every clause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7F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Ambiguous clauses are flagged with specific review reasons — not hidden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7F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30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Deadlines auto-activate from real project events (RFIs, change orders)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7F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33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Notice letters are AI-drafted, legally precise, and ready for your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17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7F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636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Compliance score tracks your team's track record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7F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389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Every action is audit-logged for dispute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Calibri"/>
              </a:defRPr>
            </a:pPr>
            <a:r>
              <a:t>efilo.ai  |  Your Projects. Finally Connected.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