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67F17"/>
                </a:solidFill>
                <a:latin typeface="Arial"/>
              </a:defRPr>
            </a:pPr>
            <a:r>
              <a:t>efilo.ai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Arial"/>
              </a:defRPr>
            </a:pPr>
            <a:r>
              <a:t>Deployment &amp; Infrastructure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7534E"/>
                </a:solidFill>
                <a:latin typeface="Arial"/>
              </a:defRPr>
            </a:pPr>
            <a:r>
              <a:t>Docker + Environment Variables = Deploy Anywhere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7534E"/>
                </a:solidFill>
                <a:latin typeface="Arial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Deployment Strategy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7534E"/>
                </a:solidFill>
                <a:latin typeface="Arial"/>
              </a:defRPr>
            </a:pPr>
            <a:r>
              <a:t>One codebase, three environments, zero code changes between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Arial"/>
              </a:defRPr>
            </a:pPr>
            <a:r>
              <a:t>LOCAL (Mac)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Arial"/>
              </a:defRPr>
            </a:pPr>
            <a: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Config: docker-compose.yml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Fully offline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Postgres + Redis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Hot reload on code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No cloud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645920"/>
            <a:ext cx="3383280" cy="64008"/>
          </a:xfrm>
          <a:prstGeom prst="round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8A5F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Arial"/>
              </a:defRPr>
            </a:pPr>
            <a:r>
              <a:t>Primary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Config: render.yaml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Most customer deployments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Managed Postgres + 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023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Managed Redis (Valkey)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Cloudflare Pages for SPA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645920"/>
            <a:ext cx="3383280" cy="64008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7F17"/>
                </a:solidFill>
                <a:latin typeface="Arial"/>
              </a:defRPr>
            </a:pPr>
            <a:r>
              <a:t>AWS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Arial"/>
              </a:defRPr>
            </a:pPr>
            <a:r>
              <a:t>Enterprise 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Config: Terraform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Large/regulated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ECS Fargate + RDS + ElastiCache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023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Same Docker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  Minimal config changes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24535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Core Principle: Docker is the universal contract. If it runs in Docker, it runs anywhere.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Production Architecture (Render + Cloudflare)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50292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8A5F"/>
                </a:solidFill>
                <a:latin typeface="Arial"/>
              </a:defRPr>
            </a:pPr>
            <a:r>
              <a:t>RENDER  (Virginia/Ohio)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Private Network  |  All services communicate internally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86000"/>
            <a:ext cx="530352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FastAPI Web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Docker container  |  Standard or Starter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$7-25/mo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26080"/>
            <a:ext cx="530352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Celery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Docker container  |  Background worker (always-on)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$7-25/mo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566160"/>
            <a:ext cx="530352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Celery Beat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40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Docker container  | 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$7/mo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206240"/>
            <a:ext cx="530352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PostgreSQL + 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Managed  |  Auto backups, PITR, HA 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97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$19-75/mo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846320"/>
            <a:ext cx="530352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C1917"/>
                </a:solidFill>
                <a:latin typeface="Arial"/>
              </a:defRPr>
            </a:pPr>
            <a:r>
              <a:t>Redis (Valkey 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20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Managed  |  Standard protocol, Celery-compatible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937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$10/mo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1371600"/>
            <a:ext cx="4389120" cy="50292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7F17"/>
                </a:solidFill>
                <a:latin typeface="Arial"/>
              </a:defRPr>
            </a:pPr>
            <a:r>
              <a:t>CLOUDFLARE  (Global Edge)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286000"/>
            <a:ext cx="39319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rial"/>
              </a:defRPr>
            </a:pPr>
            <a:r>
              <a:t>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578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React Vite SPA  |  Global CDN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246120"/>
            <a:ext cx="39319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5387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Document Storage  |  Zero egress fees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~$1/mo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4206240"/>
            <a:ext cx="39319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rial"/>
              </a:defRPr>
            </a:pPr>
            <a:r>
              <a:t>DNS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4498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Domain Management  |  Fast resolution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5166360"/>
            <a:ext cx="393192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Arial"/>
              </a:defRPr>
            </a:pPr>
            <a:r>
              <a:t>WAF + DDoS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4589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Security Layer  |  Auto-protection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67F17"/>
                </a:solidFill>
                <a:latin typeface="Arial"/>
              </a:defRPr>
            </a:pPr>
            <a:r>
              <a:t>Free tier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715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Estimated Total: $70 - $145/mo per tenant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715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57534E"/>
                </a:solidFill>
                <a:latin typeface="Arial"/>
              </a:defRPr>
            </a:pPr>
            <a:r>
              <a:t>Scales with customer size  |  No egress surprises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Local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7534E"/>
                </a:solidFill>
                <a:latin typeface="Arial"/>
              </a:defRPr>
            </a:pPr>
            <a:r>
              <a:t>Fully offline development with docker-compose  |  No cloud dependency for daily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917"/>
                </a:solidFill>
                <a:latin typeface="Arial"/>
              </a:defRPr>
            </a:pPr>
            <a:r>
              <a:t>docker-compose.yml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493776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PostgreSQL + pgvector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pgvector/pgvector:pg17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240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  <a:latin typeface="Arial"/>
              </a:defRPr>
            </a:pPr>
            <a:r>
              <a:t>localhost:5432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493776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redis:7-alpine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  <a:latin typeface="Arial"/>
              </a:defRPr>
            </a:pPr>
            <a:r>
              <a:t>localhost:6379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91839"/>
            <a:ext cx="493776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FastAPI API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375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backend/Dockerfile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375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  <a:latin typeface="Arial"/>
              </a:defRPr>
            </a:pPr>
            <a:r>
              <a:t>localhost:8000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79"/>
            <a:ext cx="493776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8619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Celery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861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backend/Dockerfile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88619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  <a:latin typeface="Arial"/>
              </a:defRPr>
            </a:pPr>
            <a:r>
              <a:t>(background)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89120"/>
            <a:ext cx="493776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Celery 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backend/Dockerfile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434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  <a:latin typeface="Arial"/>
              </a:defRPr>
            </a:pPr>
            <a:r>
              <a:t>(scheduler)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937760"/>
            <a:ext cx="493776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React Vite SPA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83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frontend/ (dev server)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983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  <a:latin typeface="Arial"/>
              </a:defRPr>
            </a:pPr>
            <a:r>
              <a:t>localhost:5173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1554480"/>
            <a:ext cx="4846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8A5F"/>
                </a:solidFill>
                <a:latin typeface="Arial"/>
              </a:defRPr>
            </a:pPr>
            <a:r>
              <a:t>No Neon dependency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560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Postgres runs locally — no internet needed for dev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926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8A5F"/>
                </a:solidFill>
                <a:latin typeface="Arial"/>
              </a:defRPr>
            </a:pPr>
            <a:r>
              <a:t>Fast iteration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2004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Hot reload on both frontend and 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566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8A5F"/>
                </a:solidFill>
                <a:latin typeface="Arial"/>
              </a:defRPr>
            </a:pPr>
            <a:r>
              <a:t>Production parity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840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Same Postgres version, same pgvector, same Redis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06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8A5F"/>
                </a:solidFill>
                <a:latin typeface="Arial"/>
              </a:defRPr>
            </a:pPr>
            <a:r>
              <a:t>One command 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docker-compose up starts everything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46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8A5F"/>
                </a:solidFill>
                <a:latin typeface="Arial"/>
              </a:defRPr>
            </a:pPr>
            <a:r>
              <a:t>Isolated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120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Each developer has their own local 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4864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8A5F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7607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No cloud costs during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Render Deployment (Primary Production)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Why Render?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Mature managed Postgres with pgvector, auto backups, 7-day PITR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Native Redis (Valkey 8) — standard protocol, Celery-compatible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Background workers run 24/7 — no idle auto-stop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render.yaml declarative config — Git push to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Private networking between all services (zero cost)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SOC 2 Type II + ISO 27001 certified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Arial"/>
              </a:defRPr>
            </a:pPr>
            <a:r>
              <a:t>  $6/mo minimum Postgres — cheapest managed option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Compliance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SOC 2 Type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54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Certified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01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ISO 27001:2022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01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Certified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486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GDPR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48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Compliant (DPA available)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955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HIPAA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955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Available on Organization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42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Encryption at 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7424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AES-256 on all databases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Encryption in transit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TLS enforced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2362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1917"/>
                </a:solidFill>
                <a:latin typeface="Arial"/>
              </a:defRPr>
            </a:pPr>
            <a:r>
              <a:t>DDoS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2362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8A5F"/>
                </a:solidFill>
                <a:latin typeface="Arial"/>
              </a:defRPr>
            </a:pPr>
            <a:r>
              <a:t>Built-in, automatic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1188720"/>
            <a:ext cx="48463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Pricing Per Tenant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1828800"/>
            <a:ext cx="448056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1847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847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Monthly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2286000"/>
            <a:ext cx="4480560" cy="32004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304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Workspace (Professional)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2606040"/>
            <a:ext cx="44805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2624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FastAPI Web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624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$7 - $25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0" y="2926080"/>
            <a:ext cx="4480560" cy="32004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Celery Worker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2944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$7 - $25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66560" y="3246120"/>
            <a:ext cx="44805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Celery Beat (Scheduler)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264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3566160"/>
            <a:ext cx="4480560" cy="32004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Postgres + pgvector (1GB)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584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$19 - $75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3886200"/>
            <a:ext cx="44805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904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Storage (10GB)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3904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0" y="4206240"/>
            <a:ext cx="4480560" cy="32004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Redis / Valkey (256MB)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224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$10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66560" y="4526279"/>
            <a:ext cx="448056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45445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Cloudflare R2 (~50GB)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54456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$1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6560" y="4846320"/>
            <a:ext cx="4480560" cy="32004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1917"/>
                </a:solidFill>
                <a:latin typeface="Arial"/>
              </a:defRPr>
            </a:pPr>
            <a:r>
              <a:t>Cloudflare Pages (SPA)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C67F17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66560" y="5212080"/>
            <a:ext cx="448056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5239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TOTAL (per tenant)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5239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7F17"/>
                </a:solidFill>
                <a:latin typeface="Arial"/>
              </a:defRPr>
            </a:pPr>
            <a:r>
              <a:t>$70 - $145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5760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7534E"/>
                </a:solidFill>
                <a:latin typeface="Arial"/>
              </a:defRPr>
            </a:pPr>
            <a:r>
              <a:t>Minimum viable: ~$58/mo  |  Recommended: ~$108/mo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AWS Enterprise Path (When Needed)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7534E"/>
                </a:solidFill>
                <a:latin typeface="Arial"/>
              </a:defRPr>
            </a:pPr>
            <a:r>
              <a:t>Same Docker images, different orchestration  |  Zero application code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5720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Render (Current)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819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AWS (Enterprise)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69848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FastAPI + Celery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67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Render Web +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671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ECS Fargate (same Docker image)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106984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PostgreSQL + pgvector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24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Render Managed Postgres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243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RDS PostgreSQL + pgvector extension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1069848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81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081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Render Key Value (Valkey)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0815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ElastiCache Redis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106984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38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Object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538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Cloudflare 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38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S3 (or keep R2 — both S3-compatible)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1069848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95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Frontend SPA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995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Cloudflare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CloudFront + S3 (or keep CF Pages)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106984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53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DNS / CDN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453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Cloudflare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4531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Route53 + CloudFront (or keep CF)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1069848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910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Infrastructure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render.yaml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103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Terraform modules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106984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67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1917"/>
                </a:solidFill>
                <a:latin typeface="Arial"/>
              </a:defRPr>
            </a:pPr>
            <a:r>
              <a:t>CI/CD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367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8A5F"/>
                </a:solidFill>
                <a:latin typeface="Arial"/>
              </a:defRPr>
            </a:pPr>
            <a:r>
              <a:t>Git push (Render auto-deploy)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675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Arial"/>
              </a:defRPr>
            </a:pPr>
            <a:r>
              <a:t>GitHub Actions + ECR + ECS deploy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43600"/>
            <a:ext cx="5029200" cy="731520"/>
          </a:xfrm>
          <a:prstGeom prst="round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What changes: Environment variables + orchestration files</a:t>
            </a:r>
            <a:br/>
            <a:r>
              <a:t>What stays the same: ALL application code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943600"/>
            <a:ext cx="5029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989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7534E"/>
                </a:solidFill>
                <a:latin typeface="Arial"/>
              </a:defRPr>
            </a:pPr>
            <a:r>
              <a:t>Only write Terraform when the first enterprise</a:t>
            </a:r>
            <a:br/>
            <a:r>
              <a:t>customer actually needs AWS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Environment Variables: The Abstraction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7534E"/>
                </a:solidFill>
                <a:latin typeface="Arial"/>
              </a:defRPr>
            </a:pPr>
            <a:r>
              <a:t>All provider-specific configuration lives in env vars  |  Code never references a specific provider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64008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7F17"/>
                </a:solidFill>
                <a:latin typeface="Arial"/>
              </a:defRPr>
            </a:pPr>
            <a:r>
              <a:t>Variables That CHANGE Per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DATABASE_URL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Local PG / Render PG / AWS 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REDIS_URL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Local Redis / Render KV / ElastiCache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R2_ENDPOINT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R2 direct / R2 direct / S3 or 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development / production /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APP_URL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localhost:5173 / customer.efilo.ai / customer.efilo.ai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WORKOS_REDIRECT_URI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localhost callback / prod callback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55448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1554480"/>
            <a:ext cx="4846320" cy="64008"/>
          </a:xfrm>
          <a:prstGeom prst="round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8A5F"/>
                </a:solidFill>
                <a:latin typeface="Arial"/>
              </a:defRPr>
            </a:pPr>
            <a:r>
              <a:t>Variables That STAY THE SAME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ANTHROPIC_API_KEY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14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Same key across all deployments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OPENAI_API_KEY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17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Same key (embeddings only)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WORKOS_API_KEY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20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Per-customer WorkOS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94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SENDGRID_API_KEY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23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Same transactional email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R2_ACCESS_KEY_ID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26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Same R2 credentials (per-customer bucket)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R2_SECRET_ACCESS_KEY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029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Arial"/>
              </a:defRPr>
            </a:pPr>
            <a:r>
              <a:t>Same R2 credentials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app/config.py reads all config from env vars via pydantic-settings</a:t>
            </a:r>
            <a:br/>
            <a:r>
              <a:t>Switch providers by changing env vars — zero code changes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Platform Comparison: Why Render Won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0789920" cy="45720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Fly.io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Railway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Cloudflare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078992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013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Managed Postgres + pgvector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Mature, 60+ 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New, 2 ext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Container-based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801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No Postgres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94560"/>
            <a:ext cx="1078992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585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Managed 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Native Valkey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Upstash (HTTP)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No 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No Redis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1078992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15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Auto Backups + PITR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715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7-day PITR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715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10-day PITR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715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Add-on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715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1078992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1729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Background Workers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172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24/7, no idle 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172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Must disable auto-stop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172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Supported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172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No Celery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66160"/>
            <a:ext cx="1078992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6301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Min Postgres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$6/mo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$38/mo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$0 (container)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023360"/>
            <a:ext cx="1078992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873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Object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None (use R2)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Tigris (beta)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None (use R2)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R2 (best)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480560"/>
            <a:ext cx="1078992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5445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SOC 2 + ISO 27001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Both certified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SOC 2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SOC 2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Both + FedRAMP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937760"/>
            <a:ext cx="1078992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001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Ease of Setup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render.yaml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fly.toml +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nixpacks auto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5001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Complex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394960"/>
            <a:ext cx="10789920" cy="457200"/>
          </a:xfrm>
          <a:prstGeom prst="roundRect">
            <a:avLst/>
          </a:prstGeom>
          <a:solidFill>
            <a:srgbClr val="F5F5F0"/>
          </a:solidFill>
          <a:ln w="635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4589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1917"/>
                </a:solidFill>
                <a:latin typeface="Arial"/>
              </a:defRPr>
            </a:pPr>
            <a:r>
              <a:t>Celery Compatibility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5458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8A5F"/>
                </a:solidFill>
                <a:latin typeface="Arial"/>
              </a:defRPr>
            </a:pPr>
            <a:r>
              <a:t>Official guide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5458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Needs workarounds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5458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Supported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5458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7534E"/>
                </a:solidFill>
                <a:latin typeface="Arial"/>
              </a:defRPr>
            </a:pPr>
            <a:r>
              <a:t>Not possible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34640" y="6035040"/>
            <a:ext cx="2286000" cy="548640"/>
          </a:xfrm>
          <a:prstGeom prst="round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60624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0" y="6080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Arial"/>
              </a:defRPr>
            </a:pPr>
            <a:r>
              <a:t>Best balance of managed services, pricing, and production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64008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57200" cy="457200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7F17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Dockerize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Write backend/Dockerfile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Write docker-compose.yml for local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Audit config.py — ensure all config from env vars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Test full stack locally with docker-compose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188720"/>
            <a:ext cx="3383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188720"/>
            <a:ext cx="3383280" cy="64008"/>
          </a:xfrm>
          <a:prstGeom prst="round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39" y="1463040"/>
            <a:ext cx="457200" cy="457200"/>
          </a:xfrm>
          <a:prstGeom prst="round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799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8A5F"/>
                </a:solidFill>
                <a:latin typeface="Arial"/>
              </a:defRPr>
            </a:pPr>
            <a:r>
              <a:t>FIRST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799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Ship to 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Write render.yaml (Blueprint)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Create Render workspace +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Deploy frontend to Cloudflare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Run Alembic migrations on Render 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931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Configure env vars + custom domain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188720"/>
            <a:ext cx="3383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1188720"/>
            <a:ext cx="3383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0" y="14630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rial"/>
              </a:defRPr>
            </a:pPr>
            <a:r>
              <a:t>WHEN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917"/>
                </a:solidFill>
                <a:latin typeface="Arial"/>
              </a:defRPr>
            </a:pPr>
            <a:r>
              <a:t>AWS 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Write Terraform modules (ECS, RDS, ElastiCache)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697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Set up ECR for Docker image 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GitHub Actions CI/CD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520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7534E"/>
                </a:solidFill>
                <a:latin typeface="Arial"/>
              </a:defRPr>
            </a:pPr>
            <a:r>
              <a:t>  Only build this when first enterprise customer needs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760720"/>
            <a:ext cx="10698480" cy="4572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8815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1917"/>
                </a:solidFill>
                <a:latin typeface="Arial"/>
              </a:defRPr>
            </a:pPr>
            <a:r>
              <a:t>Principle: Don't build AWS infrastructure until you have an enterprise customer who needs it. Render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Decisions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Primary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Managed Postgres, Redis, background workers, private networking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39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Edge / CDN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11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Cloudflare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7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Pages (SPA), R2 (documents), DNS, WAF, DDoS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Enterprise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ECS Fargate + RDS + ElastiCache — same Docker images, Terraform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399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291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Render Managed 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9183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pgvector built-in, auto backups, 7-day PITR, HA 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79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319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Object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931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Cloudflare R2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1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Zero egress fees, S3-compatible API, already integrated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Containerization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72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Universal contract — runs on any platform without code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20640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Local Dev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docker-compose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2120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Postgres + Redis + API + workers locally, fully offline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60719"/>
            <a:ext cx="10698480" cy="548640"/>
          </a:xfrm>
          <a:prstGeom prst="roundRect">
            <a:avLst/>
          </a:prstGeom>
          <a:solidFill>
            <a:srgbClr val="2A2522"/>
          </a:solidFill>
          <a:ln w="6350">
            <a:solidFill>
              <a:srgbClr val="3A3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52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34E"/>
                </a:solidFill>
                <a:latin typeface="Arial"/>
              </a:defRPr>
            </a:pPr>
            <a:r>
              <a:t>Config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852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7F17"/>
                </a:solidFill>
                <a:latin typeface="Arial"/>
              </a:defRPr>
            </a:pPr>
            <a:r>
              <a:t>Environment vars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85215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59E"/>
                </a:solidFill>
                <a:latin typeface="Arial"/>
              </a:defRPr>
            </a:pPr>
            <a:r>
              <a:t>pydantic-settings reads all config, swap providers via env vars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67F17"/>
                </a:solidFill>
                <a:latin typeface="Arial"/>
              </a:defRPr>
            </a:pPr>
            <a:r>
              <a:t>Docker + env vars = deploy anywhere  |  Build once, ship to any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